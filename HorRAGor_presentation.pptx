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3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3083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HorRAGor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conversationnel de recommandation de films — pipeline RAG hybride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865376"/>
            <a:ext cx="41148" cy="88696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/home/claude/icons/bullsey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2066544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63040" y="224942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Permettre à un utilisateur de dialoguer naturellement avec le catalogue (63 000+ films) pour obtenir des recommandations pertinentes, filtrées et justifiées.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0632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548640" y="3099816"/>
            <a:ext cx="41148" cy="1527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/home/claude/icons/random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2461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4672" y="3675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 hybride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804672" y="396849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Pré-filtrage SQL (réalisateur, genre, année, score) puis recherche sémantique vectorielle FAISS sur le pool restreint.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319272" y="30632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006E">
              <a:alpha val="1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3319272" y="3099816"/>
            <a:ext cx="41148" cy="1527048"/>
          </a:xfrm>
          <a:prstGeom prst="rect">
            <a:avLst/>
          </a:prstGeom>
          <a:solidFill>
            <a:srgbClr val="FF006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/home/claude/icons/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4" y="32461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75304" y="3675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qualité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3575304" y="396849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nœud LangGraph valide chaque réponse générée et déclenche un ré-essai localisé si elle est jugée incomplète.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089904" y="30632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6089904" y="3099816"/>
            <a:ext cx="41148" cy="1527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/home/claude/icons/layer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936" y="32461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45936" y="3675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souveraine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345936" y="396849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LangGraph + Supabase + Ollama (LLM local granite4.1) — aucune dépendance à une API LLM externe.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4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 l'agent (LangGraph)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Graphe d'exécution réel — routage conditionnel, recherche hybride, boucle de validation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143000" y="2834640"/>
            <a:ext cx="320040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 flipV="1">
            <a:off x="2697480" y="1536192"/>
            <a:ext cx="320040" cy="1252728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697480" y="2880360"/>
            <a:ext cx="365760" cy="114300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4846320" y="1618488"/>
            <a:ext cx="365760" cy="1078992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 flipV="1">
            <a:off x="4846320" y="2834640"/>
            <a:ext cx="365760" cy="1216152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5829300" y="2606040"/>
            <a:ext cx="0" cy="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none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5829300" y="1152144"/>
            <a:ext cx="0" cy="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none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5829300" y="4498848"/>
            <a:ext cx="0" cy="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none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 flipV="1">
            <a:off x="6446520" y="1618488"/>
            <a:ext cx="411480" cy="1170432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6446520" y="2880360"/>
            <a:ext cx="411480" cy="114300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7589520" y="1828800"/>
            <a:ext cx="0" cy="201168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365760" y="2606040"/>
            <a:ext cx="777240" cy="457200"/>
          </a:xfrm>
          <a:prstGeom prst="roundRect">
            <a:avLst>
              <a:gd name="adj" fmla="val 50000"/>
            </a:avLst>
          </a:prstGeom>
          <a:solidFill>
            <a:srgbClr val="FF4757">
              <a:alpha val="22000"/>
            </a:srgbClr>
          </a:solidFill>
          <a:ln w="1905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65760" y="26060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__start__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463040" y="260604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4757"/>
          </a:solidFill>
          <a:ln/>
          <a:effectLst>
            <a:outerShdw blurRad="114300" dist="50800" dir="16200000" algn="bl" rotWithShape="0">
              <a:srgbClr val="FF4757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1463040" y="26060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title_router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063240" y="1371600"/>
            <a:ext cx="1783080" cy="457200"/>
          </a:xfrm>
          <a:prstGeom prst="roundRect">
            <a:avLst>
              <a:gd name="adj" fmla="val 16000"/>
            </a:avLst>
          </a:prstGeom>
          <a:solidFill>
            <a:srgbClr val="FF006E">
              <a:alpha val="22000"/>
            </a:srgbClr>
          </a:solidFill>
          <a:ln w="15240">
            <a:solidFill>
              <a:srgbClr val="FF00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063240" y="13716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direct_movie_detail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063240" y="3840480"/>
            <a:ext cx="1783080" cy="457200"/>
          </a:xfrm>
          <a:prstGeom prst="roundRect">
            <a:avLst>
              <a:gd name="adj" fmla="val 16000"/>
            </a:avLst>
          </a:prstGeom>
          <a:solidFill>
            <a:srgbClr val="FF006E">
              <a:alpha val="22000"/>
            </a:srgbClr>
          </a:solidFill>
          <a:ln w="15240">
            <a:solidFill>
              <a:srgbClr val="FF00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063240" y="3840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filter_and_search_hybrid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212080" y="260604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4757"/>
          </a:solidFill>
          <a:ln/>
          <a:effectLst>
            <a:outerShdw blurRad="114300" dist="50800" dir="16200000" algn="bl" rotWithShape="0">
              <a:srgbClr val="FF4757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5212080" y="26060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validator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58000" y="1371600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FF006E">
              <a:alpha val="22000"/>
            </a:srgbClr>
          </a:solidFill>
          <a:ln w="15240">
            <a:solidFill>
              <a:srgbClr val="FF00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858000" y="1371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wikipedia_enrich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58000" y="3840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4757">
              <a:alpha val="22000"/>
            </a:srgbClr>
          </a:solidFill>
          <a:ln w="19050">
            <a:solidFill>
              <a:srgbClr val="FF475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6858000" y="3840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__end__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11980" y="1033272"/>
            <a:ext cx="960120" cy="237744"/>
          </a:xfrm>
          <a:prstGeom prst="roundRect">
            <a:avLst>
              <a:gd name="adj" fmla="val 15385"/>
            </a:avLst>
          </a:prstGeom>
          <a:solidFill>
            <a:srgbClr val="000000">
              <a:alpha val="70000"/>
            </a:srgbClr>
          </a:solidFill>
          <a:ln w="6350">
            <a:solidFill>
              <a:srgbClr val="E8E4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411980" y="103327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E8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retry_direct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411980" y="4379976"/>
            <a:ext cx="960120" cy="237744"/>
          </a:xfrm>
          <a:prstGeom prst="roundRect">
            <a:avLst>
              <a:gd name="adj" fmla="val 15385"/>
            </a:avLst>
          </a:prstGeom>
          <a:solidFill>
            <a:srgbClr val="000000">
              <a:alpha val="70000"/>
            </a:srgbClr>
          </a:solidFill>
          <a:ln w="6350">
            <a:solidFill>
              <a:srgbClr val="E8E4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4411980" y="437997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E8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retry_hybrid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172200" y="1970532"/>
            <a:ext cx="960120" cy="237744"/>
          </a:xfrm>
          <a:prstGeom prst="roundRect">
            <a:avLst>
              <a:gd name="adj" fmla="val 15385"/>
            </a:avLst>
          </a:prstGeom>
          <a:solidFill>
            <a:srgbClr val="000000">
              <a:alpha val="70000"/>
            </a:srgbClr>
          </a:solidFill>
          <a:ln w="6350">
            <a:solidFill>
              <a:srgbClr val="E8E4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6172200" y="197053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E8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enrich_with_wiki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172200" y="3461004"/>
            <a:ext cx="960120" cy="237744"/>
          </a:xfrm>
          <a:prstGeom prst="roundRect">
            <a:avLst>
              <a:gd name="adj" fmla="val 15385"/>
            </a:avLst>
          </a:prstGeom>
          <a:solidFill>
            <a:srgbClr val="000000">
              <a:alpha val="70000"/>
            </a:srgbClr>
          </a:solidFill>
          <a:ln w="6350">
            <a:solidFill>
              <a:srgbClr val="E8E4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6172200" y="346100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E8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go_to_end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4828032"/>
            <a:ext cx="411480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914400" y="470001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arête directe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286000" y="4828032"/>
            <a:ext cx="411480" cy="0"/>
          </a:xfrm>
          <a:prstGeom prst="line">
            <a:avLst/>
          </a:prstGeom>
          <a:noFill/>
          <a:ln w="17780">
            <a:solidFill>
              <a:srgbClr val="E8E4F0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43" name="Text 41"/>
          <p:cNvSpPr/>
          <p:nvPr/>
        </p:nvSpPr>
        <p:spPr>
          <a:xfrm>
            <a:off x="2743200" y="4700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 conditionnel</a:t>
            </a:r>
            <a:endParaRPr lang="en-US" sz="900" dirty="0"/>
          </a:p>
        </p:txBody>
      </p:sp>
      <p:cxnSp>
        <p:nvCxnSpPr>
          <p:cNvPr id="45" name="Connecteur : en angle 44">
            <a:extLst>
              <a:ext uri="{FF2B5EF4-FFF2-40B4-BE49-F238E27FC236}">
                <a16:creationId xmlns:a16="http://schemas.microsoft.com/office/drawing/2014/main" id="{6FB773B3-2979-EA24-2CF2-200FF82786B3}"/>
              </a:ext>
            </a:extLst>
          </p:cNvPr>
          <p:cNvCxnSpPr>
            <a:stCxn id="26" idx="0"/>
            <a:endCxn id="33" idx="3"/>
          </p:cNvCxnSpPr>
          <p:nvPr/>
        </p:nvCxnSpPr>
        <p:spPr>
          <a:xfrm rot="16200000" flipV="1">
            <a:off x="4873752" y="1650492"/>
            <a:ext cx="1453896" cy="457200"/>
          </a:xfrm>
          <a:prstGeom prst="bentConnector2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</p:cxnSp>
      <p:cxnSp>
        <p:nvCxnSpPr>
          <p:cNvPr id="47" name="Connecteur : en angle 46">
            <a:extLst>
              <a:ext uri="{FF2B5EF4-FFF2-40B4-BE49-F238E27FC236}">
                <a16:creationId xmlns:a16="http://schemas.microsoft.com/office/drawing/2014/main" id="{3C4B0889-C8AE-3BB1-04CD-C521ADC0142E}"/>
              </a:ext>
            </a:extLst>
          </p:cNvPr>
          <p:cNvCxnSpPr>
            <a:stCxn id="33" idx="1"/>
            <a:endCxn id="23" idx="0"/>
          </p:cNvCxnSpPr>
          <p:nvPr/>
        </p:nvCxnSpPr>
        <p:spPr>
          <a:xfrm rot="10800000" flipV="1">
            <a:off x="3954780" y="1152144"/>
            <a:ext cx="457200" cy="219456"/>
          </a:xfrm>
          <a:prstGeom prst="bentConnector2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</p:cxnSp>
      <p:cxnSp>
        <p:nvCxnSpPr>
          <p:cNvPr id="49" name="Connecteur : en angle 48">
            <a:extLst>
              <a:ext uri="{FF2B5EF4-FFF2-40B4-BE49-F238E27FC236}">
                <a16:creationId xmlns:a16="http://schemas.microsoft.com/office/drawing/2014/main" id="{C4614484-3804-0315-A2D9-91DEED630159}"/>
              </a:ext>
            </a:extLst>
          </p:cNvPr>
          <p:cNvCxnSpPr>
            <a:stCxn id="27" idx="2"/>
            <a:endCxn id="35" idx="3"/>
          </p:cNvCxnSpPr>
          <p:nvPr/>
        </p:nvCxnSpPr>
        <p:spPr>
          <a:xfrm rot="5400000">
            <a:off x="4882896" y="3552444"/>
            <a:ext cx="1435608" cy="457200"/>
          </a:xfrm>
          <a:prstGeom prst="bentConnector2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</p:cxnSp>
      <p:cxnSp>
        <p:nvCxnSpPr>
          <p:cNvPr id="51" name="Connecteur : en angle 50">
            <a:extLst>
              <a:ext uri="{FF2B5EF4-FFF2-40B4-BE49-F238E27FC236}">
                <a16:creationId xmlns:a16="http://schemas.microsoft.com/office/drawing/2014/main" id="{9F7E212F-CE90-9EC0-A7A1-A6C4DF342F39}"/>
              </a:ext>
            </a:extLst>
          </p:cNvPr>
          <p:cNvCxnSpPr>
            <a:stCxn id="35" idx="1"/>
            <a:endCxn id="24" idx="2"/>
          </p:cNvCxnSpPr>
          <p:nvPr/>
        </p:nvCxnSpPr>
        <p:spPr>
          <a:xfrm rot="10800000">
            <a:off x="3954780" y="4297680"/>
            <a:ext cx="457200" cy="201168"/>
          </a:xfrm>
          <a:prstGeom prst="bentConnector2">
            <a:avLst/>
          </a:prstGeom>
          <a:noFill/>
          <a:ln w="17780">
            <a:solidFill>
              <a:srgbClr val="E8E4F0"/>
            </a:solidFill>
            <a:prstDash val="dash"/>
            <a:tailEnd type="triangl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170</Words>
  <Application>Microsoft Office PowerPoint</Application>
  <PresentationFormat>Affichage à l'écran (16:9)</PresentationFormat>
  <Paragraphs>27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Consolas</vt:lpstr>
      <vt:lpstr>Office Theme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HorRAGor — Présentation de projet</dc:title>
  <dc:subject>PptxGenJS Presentation</dc:subject>
  <dc:creator>HorRAGor</dc:creator>
  <cp:lastModifiedBy>Lionel JOURDHIER</cp:lastModifiedBy>
  <cp:revision>3</cp:revision>
  <dcterms:created xsi:type="dcterms:W3CDTF">2026-07-05T08:40:31Z</dcterms:created>
  <dcterms:modified xsi:type="dcterms:W3CDTF">2026-07-06T07:04:42Z</dcterms:modified>
</cp:coreProperties>
</file>